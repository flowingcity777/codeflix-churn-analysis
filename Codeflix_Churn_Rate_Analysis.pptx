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Segment 30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 2017</c:v>
                </c:pt>
                <c:pt idx="1">
                  <c:v>Feb 2017</c:v>
                </c:pt>
                <c:pt idx="2">
                  <c:v>Mar 2017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0.0756013745704467</c:v>
                </c:pt>
                <c:pt idx="1">
                  <c:v>0.0733590733590734</c:v>
                </c:pt>
                <c:pt idx="2">
                  <c:v>0.116991643454039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Segment 87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 2017</c:v>
                </c:pt>
                <c:pt idx="1">
                  <c:v>Feb 2017</c:v>
                </c:pt>
                <c:pt idx="2">
                  <c:v>Mar 2017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0.25089605734767</c:v>
                </c:pt>
                <c:pt idx="1">
                  <c:v>0.316916488222698</c:v>
                </c:pt>
                <c:pt idx="2">
                  <c:v>0.476894639556377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6"/>
          <c:min val="0.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  <c:majorUnit val="0.1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23444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Codeflix Churn Rate Analysis</a:t>
            </a:r>
          </a:p>
          <a:p>
            <a:pPr>
              <a:spcBef>
                <a:spcPts val="1600"/>
              </a:spcBef>
              <a:defRPr sz="2000">
                <a:solidFill>
                  <a:srgbClr val="E1E0EB"/>
                </a:solidFill>
              </a:defRPr>
            </a:pPr>
            <a:r>
              <a:t>Analyzing subscriber churn across customer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800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SQL Data Analysis Project</a:t>
            </a:r>
          </a:p>
          <a:p>
            <a:pPr>
              <a:defRPr sz="1300">
                <a:solidFill>
                  <a:srgbClr val="D2D0E1"/>
                </a:solidFill>
              </a:defRPr>
            </a:pPr>
            <a:r>
              <a:t>January–March 2017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B52"/>
                </a:solidFill>
              </a:defRPr>
            </a:pPr>
            <a:r>
              <a:t>Business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1234440"/>
          </a:xfrm>
          <a:prstGeom prst="roundRect">
            <a:avLst/>
          </a:prstGeom>
          <a:solidFill>
            <a:srgbClr val="F5F4F9"/>
          </a:solidFill>
          <a:ln>
            <a:solidFill>
              <a:srgbClr val="DC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500" b="1">
                <a:solidFill>
                  <a:srgbClr val="23232A"/>
                </a:solidFill>
              </a:defRPr>
            </a:pPr>
            <a:r>
              <a:t>How does subscriber churn vary between Codeflix customer segments?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32A"/>
                </a:solidFill>
              </a:defRPr>
            </a:pPr>
            <a:r>
              <a:t>Measure monthly churn across customer segments 30 and 87.</a:t>
            </a:r>
          </a:p>
          <a:p>
            <a:pPr>
              <a:spcAft>
                <a:spcPts val="1200"/>
              </a:spcAft>
              <a:defRPr sz="2100" b="0">
                <a:solidFill>
                  <a:srgbClr val="23232A"/>
                </a:solidFill>
              </a:defRPr>
            </a:pPr>
            <a:r>
              <a:t>Identify meaningful differences in retention performance.</a:t>
            </a:r>
          </a:p>
          <a:p>
            <a:pPr>
              <a:spcAft>
                <a:spcPts val="1200"/>
              </a:spcAft>
              <a:defRPr sz="2100" b="0">
                <a:solidFill>
                  <a:srgbClr val="23232A"/>
                </a:solidFill>
              </a:defRPr>
            </a:pPr>
            <a:r>
              <a:t>Use the results to highlight where further investigation may be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6473952"/>
            <a:ext cx="10789920" cy="18288"/>
          </a:xfrm>
          <a:prstGeom prst="rect">
            <a:avLst/>
          </a:prstGeom>
          <a:solidFill>
            <a:srgbClr val="D7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B52"/>
                </a:solidFill>
              </a:defRPr>
            </a:pPr>
            <a:r>
              <a:t>Dataset &amp;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3657600" cy="3337560"/>
          </a:xfrm>
          <a:prstGeom prst="roundRect">
            <a:avLst/>
          </a:prstGeom>
          <a:solidFill>
            <a:srgbClr val="F5F4F9"/>
          </a:solidFill>
          <a:ln>
            <a:solidFill>
              <a:srgbClr val="DC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23232A"/>
                </a:solidFill>
              </a:defRPr>
            </a:pPr>
            <a:r>
              <a:t>DATASET</a:t>
            </a:r>
            <a:br/>
            <a:r>
              <a:t>2,000 subscription records</a:t>
            </a:r>
            <a:br/>
            <a:r>
              <a:t>Jan–Mar 2017</a:t>
            </a:r>
            <a:br/>
            <a:r>
              <a:t>Segments 30 &amp; 87</a:t>
            </a:r>
          </a:p>
        </p:txBody>
      </p:sp>
      <p:sp>
        <p:nvSpPr>
          <p:cNvPr id="5" name="Oval 4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rgbClr val="5B5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1490472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A"/>
                </a:solidFill>
              </a:defRPr>
            </a:pPr>
            <a:r>
              <a:t>Generate monthly date ranges</a:t>
            </a:r>
          </a:p>
        </p:txBody>
      </p:sp>
      <p:sp>
        <p:nvSpPr>
          <p:cNvPr id="7" name="Oval 6"/>
          <p:cNvSpPr/>
          <p:nvPr/>
        </p:nvSpPr>
        <p:spPr>
          <a:xfrm>
            <a:off x="4892040" y="2350008"/>
            <a:ext cx="457200" cy="457200"/>
          </a:xfrm>
          <a:prstGeom prst="ellipse">
            <a:avLst/>
          </a:prstGeom>
          <a:solidFill>
            <a:srgbClr val="5B5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233172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A"/>
                </a:solidFill>
              </a:defRPr>
            </a:pPr>
            <a:r>
              <a:t>Cross join subscriptions with each month</a:t>
            </a:r>
          </a:p>
        </p:txBody>
      </p:sp>
      <p:sp>
        <p:nvSpPr>
          <p:cNvPr id="9" name="Oval 8"/>
          <p:cNvSpPr/>
          <p:nvPr/>
        </p:nvSpPr>
        <p:spPr>
          <a:xfrm>
            <a:off x="4892040" y="3191256"/>
            <a:ext cx="457200" cy="457200"/>
          </a:xfrm>
          <a:prstGeom prst="ellipse">
            <a:avLst/>
          </a:prstGeom>
          <a:solidFill>
            <a:srgbClr val="5B5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3172968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A"/>
                </a:solidFill>
              </a:defRPr>
            </a:pPr>
            <a:r>
              <a:t>Identify active and canceled subscriptions</a:t>
            </a:r>
          </a:p>
        </p:txBody>
      </p:sp>
      <p:sp>
        <p:nvSpPr>
          <p:cNvPr id="11" name="Oval 10"/>
          <p:cNvSpPr/>
          <p:nvPr/>
        </p:nvSpPr>
        <p:spPr>
          <a:xfrm>
            <a:off x="4892040" y="4032504"/>
            <a:ext cx="457200" cy="457200"/>
          </a:xfrm>
          <a:prstGeom prst="ellipse">
            <a:avLst/>
          </a:prstGeom>
          <a:solidFill>
            <a:srgbClr val="5B5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4014216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A"/>
                </a:solidFill>
              </a:defRPr>
            </a:pPr>
            <a:r>
              <a:t>Aggregate by month and segment</a:t>
            </a:r>
          </a:p>
        </p:txBody>
      </p:sp>
      <p:sp>
        <p:nvSpPr>
          <p:cNvPr id="13" name="Oval 12"/>
          <p:cNvSpPr/>
          <p:nvPr/>
        </p:nvSpPr>
        <p:spPr>
          <a:xfrm>
            <a:off x="4892040" y="4873752"/>
            <a:ext cx="457200" cy="457200"/>
          </a:xfrm>
          <a:prstGeom prst="ellipse">
            <a:avLst/>
          </a:prstGeom>
          <a:solidFill>
            <a:srgbClr val="5B5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4855464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32A"/>
                </a:solidFill>
              </a:defRPr>
            </a:pPr>
            <a:r>
              <a:t>Calculate churn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473952"/>
            <a:ext cx="10789920" cy="18288"/>
          </a:xfrm>
          <a:prstGeom prst="rect">
            <a:avLst/>
          </a:prstGeom>
          <a:solidFill>
            <a:srgbClr val="D7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B52"/>
                </a:solidFill>
              </a:defRPr>
            </a:pPr>
            <a:r>
              <a:t>Monthly Churn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73"/>
                </a:solidFill>
              </a:defRPr>
            </a:pPr>
            <a:r>
              <a:t>Churn rate = canceled subscriptions ÷ active subscriptions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417320"/>
          <a:ext cx="73152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49640" y="1645920"/>
            <a:ext cx="2743200" cy="1325880"/>
          </a:xfrm>
          <a:prstGeom prst="roundRect">
            <a:avLst/>
          </a:prstGeom>
          <a:solidFill>
            <a:srgbClr val="F5F4F9"/>
          </a:solidFill>
          <a:ln>
            <a:solidFill>
              <a:srgbClr val="DC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32A"/>
                </a:solidFill>
              </a:defRPr>
            </a:pPr>
            <a:r>
              <a:t>Segment 87</a:t>
            </a:r>
            <a:br/>
            <a:r>
              <a:t>25.09% → 31.69% → 47.69%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3246120"/>
            <a:ext cx="2743200" cy="1325880"/>
          </a:xfrm>
          <a:prstGeom prst="roundRect">
            <a:avLst/>
          </a:prstGeom>
          <a:solidFill>
            <a:srgbClr val="F5F4F9"/>
          </a:solidFill>
          <a:ln>
            <a:solidFill>
              <a:srgbClr val="DC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32A"/>
                </a:solidFill>
              </a:defRPr>
            </a:pPr>
            <a:r>
              <a:t>Segment 30</a:t>
            </a:r>
            <a:br/>
            <a:r>
              <a:t>7.56% → 7.34% → 11.70%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73952"/>
            <a:ext cx="10789920" cy="18288"/>
          </a:xfrm>
          <a:prstGeom prst="rect">
            <a:avLst/>
          </a:prstGeom>
          <a:solidFill>
            <a:srgbClr val="D7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B52"/>
                </a:solidFill>
              </a:defRPr>
            </a:pPr>
            <a:r>
              <a:t>Segment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154680" cy="685800"/>
          </a:xfrm>
          <a:prstGeom prst="roundRect">
            <a:avLst/>
          </a:prstGeom>
          <a:solidFill>
            <a:srgbClr val="5B548B"/>
          </a:solidFill>
          <a:ln>
            <a:solidFill>
              <a:srgbClr val="DC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3232A"/>
                </a:solidFill>
              </a:defRPr>
            </a:pPr>
            <a:r>
              <a:t>SEGMENT 87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508760"/>
            <a:ext cx="3154680" cy="685800"/>
          </a:xfrm>
          <a:prstGeom prst="roundRect">
            <a:avLst/>
          </a:prstGeom>
          <a:solidFill>
            <a:srgbClr val="F5F4F9"/>
          </a:solidFill>
          <a:ln>
            <a:solidFill>
              <a:srgbClr val="DC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3232A"/>
                </a:solidFill>
              </a:defRPr>
            </a:pPr>
            <a:r>
              <a:t>SEGMENT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3154680" cy="1051560"/>
          </a:xfrm>
          <a:prstGeom prst="roundRect">
            <a:avLst/>
          </a:prstGeom>
          <a:solidFill>
            <a:srgbClr val="F5F4F9"/>
          </a:solidFill>
          <a:ln>
            <a:solidFill>
              <a:srgbClr val="DC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23232A"/>
                </a:solidFill>
              </a:defRPr>
            </a:pPr>
            <a:r>
              <a:t>47.69%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423160"/>
            <a:ext cx="3154680" cy="1051560"/>
          </a:xfrm>
          <a:prstGeom prst="roundRect">
            <a:avLst/>
          </a:prstGeom>
          <a:solidFill>
            <a:srgbClr val="F5F4F9"/>
          </a:solidFill>
          <a:ln>
            <a:solidFill>
              <a:srgbClr val="DC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23232A"/>
                </a:solidFill>
              </a:defRPr>
            </a:pPr>
            <a:r>
              <a:t>11.70%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9966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32A"/>
                </a:solidFill>
              </a:defRPr>
            </a:pPr>
            <a:r>
              <a:t>Segment 87 had substantially higher churn in every month.</a:t>
            </a:r>
          </a:p>
          <a:p>
            <a:pPr>
              <a:spcAft>
                <a:spcPts val="1200"/>
              </a:spcAft>
              <a:defRPr sz="2000" b="0">
                <a:solidFill>
                  <a:srgbClr val="23232A"/>
                </a:solidFill>
              </a:defRPr>
            </a:pPr>
            <a:r>
              <a:t>Segment 87 increased by about 22.6 percentage points from January to March.</a:t>
            </a:r>
          </a:p>
          <a:p>
            <a:pPr>
              <a:spcAft>
                <a:spcPts val="1200"/>
              </a:spcAft>
              <a:defRPr sz="2000" b="0">
                <a:solidFill>
                  <a:srgbClr val="23232A"/>
                </a:solidFill>
              </a:defRPr>
            </a:pPr>
            <a:r>
              <a:t>Segment 30 remained below 12% throughout the analysis period.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473952"/>
            <a:ext cx="10789920" cy="18288"/>
          </a:xfrm>
          <a:prstGeom prst="rect">
            <a:avLst/>
          </a:prstGeom>
          <a:solidFill>
            <a:srgbClr val="D7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B52"/>
                </a:solidFill>
              </a:defRPr>
            </a:pPr>
            <a: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685800" cy="685800"/>
          </a:xfrm>
          <a:prstGeom prst="roundRect">
            <a:avLst/>
          </a:prstGeom>
          <a:solidFill>
            <a:srgbClr val="5B548B"/>
          </a:solidFill>
          <a:ln>
            <a:solidFill>
              <a:srgbClr val="DC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32A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90472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B52"/>
                </a:solidFill>
              </a:defRPr>
            </a:pPr>
            <a:r>
              <a:t>Higher churn</a:t>
            </a:r>
          </a:p>
          <a:p>
            <a:pPr>
              <a:spcBef>
                <a:spcPts val="500"/>
              </a:spcBef>
              <a:defRPr sz="1700">
                <a:solidFill>
                  <a:srgbClr val="23232A"/>
                </a:solidFill>
              </a:defRPr>
            </a:pPr>
            <a:r>
              <a:t>Segment 87 consistently showed much higher churn than Segment 30.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34639"/>
            <a:ext cx="685800" cy="685800"/>
          </a:xfrm>
          <a:prstGeom prst="roundRect">
            <a:avLst/>
          </a:prstGeom>
          <a:solidFill>
            <a:srgbClr val="5B548B"/>
          </a:solidFill>
          <a:ln>
            <a:solidFill>
              <a:srgbClr val="DC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32A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816351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B52"/>
                </a:solidFill>
              </a:defRPr>
            </a:pPr>
            <a:r>
              <a:t>Sharp increase</a:t>
            </a:r>
          </a:p>
          <a:p>
            <a:pPr>
              <a:spcBef>
                <a:spcPts val="500"/>
              </a:spcBef>
              <a:defRPr sz="1700">
                <a:solidFill>
                  <a:srgbClr val="23232A"/>
                </a:solidFill>
              </a:defRPr>
            </a:pPr>
            <a:r>
              <a:t>Segment 87 nearly doubled from 25.09% in January to 47.69% in March.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685800" cy="685800"/>
          </a:xfrm>
          <a:prstGeom prst="roundRect">
            <a:avLst/>
          </a:prstGeom>
          <a:solidFill>
            <a:srgbClr val="5B548B"/>
          </a:solidFill>
          <a:ln>
            <a:solidFill>
              <a:srgbClr val="DC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32A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4142232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2B52"/>
                </a:solidFill>
              </a:defRPr>
            </a:pPr>
            <a:r>
              <a:t>Relatively stable</a:t>
            </a:r>
          </a:p>
          <a:p>
            <a:pPr>
              <a:spcBef>
                <a:spcPts val="500"/>
              </a:spcBef>
              <a:defRPr sz="1700">
                <a:solidFill>
                  <a:srgbClr val="23232A"/>
                </a:solidFill>
              </a:defRPr>
            </a:pPr>
            <a:r>
              <a:t>Segment 30 remained comparatively low, despite a March increase to 11.70%.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473952"/>
            <a:ext cx="10789920" cy="18288"/>
          </a:xfrm>
          <a:prstGeom prst="rect">
            <a:avLst/>
          </a:prstGeom>
          <a:solidFill>
            <a:srgbClr val="D7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2B52"/>
                </a:solidFill>
              </a:defRPr>
            </a:pPr>
            <a:r>
              <a:t>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332720" cy="960120"/>
          </a:xfrm>
          <a:prstGeom prst="roundRect">
            <a:avLst/>
          </a:prstGeom>
          <a:solidFill>
            <a:srgbClr val="F5F4F9"/>
          </a:solidFill>
          <a:ln>
            <a:solidFill>
              <a:srgbClr val="DC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500" b="1">
                <a:solidFill>
                  <a:srgbClr val="23232A"/>
                </a:solidFill>
              </a:defRPr>
            </a:pPr>
            <a:r>
              <a:t>Prioritize further investigation of Segment 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88036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32A"/>
                </a:solidFill>
              </a:defRPr>
            </a:pPr>
            <a:r>
              <a:t>Investigate why Segment 87 experiences substantially higher churn.</a:t>
            </a:r>
          </a:p>
          <a:p>
            <a:pPr>
              <a:spcAft>
                <a:spcPts val="1200"/>
              </a:spcAft>
              <a:defRPr sz="2100" b="0">
                <a:solidFill>
                  <a:srgbClr val="23232A"/>
                </a:solidFill>
              </a:defRPr>
            </a:pPr>
            <a:r>
              <a:t>Examine customer engagement, pricing, demographics, and acquisition channels.</a:t>
            </a:r>
          </a:p>
          <a:p>
            <a:pPr>
              <a:spcAft>
                <a:spcPts val="1200"/>
              </a:spcAft>
              <a:defRPr sz="2100" b="0">
                <a:solidFill>
                  <a:srgbClr val="23232A"/>
                </a:solidFill>
              </a:defRPr>
            </a:pPr>
            <a:r>
              <a:t>Analyze additional behavioral data before drawing conclusions about the cause of churn.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235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96973"/>
                </a:solidFill>
              </a:defRPr>
            </a:pPr>
            <a:r>
              <a:t>Key principle: the analysis identifies where the retention problem is—not yet why it occurs.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473952"/>
            <a:ext cx="10789920" cy="18288"/>
          </a:xfrm>
          <a:prstGeom prst="rect">
            <a:avLst/>
          </a:prstGeom>
          <a:solidFill>
            <a:srgbClr val="D7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pPr algn="ctr">
              <a:spcBef>
                <a:spcPts val="1800"/>
              </a:spcBef>
              <a:defRPr sz="2200">
                <a:solidFill>
                  <a:srgbClr val="E6E4EE"/>
                </a:solidFill>
              </a:defRPr>
            </a:pPr>
            <a:r>
              <a:t>Segment 87 represents the clearest retention challenge.</a:t>
            </a:r>
          </a:p>
          <a:p>
            <a:pPr algn="ctr">
              <a:spcBef>
                <a:spcPts val="1400"/>
              </a:spcBef>
              <a:defRPr sz="1700">
                <a:solidFill>
                  <a:srgbClr val="D2D0E1"/>
                </a:solidFill>
              </a:defRPr>
            </a:pPr>
            <a:r>
              <a:t>SQL analysis provides the evidence for targeted follow-up.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